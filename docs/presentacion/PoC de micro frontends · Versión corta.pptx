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embeddedFontLst>
    <p:embeddedFont>
      <p:font typeface="JetBrains Mono" panose="02000009000000000000" pitchFamily="49" charset="0"/>
      <p:regular r:id="rId12"/>
      <p:bold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font" Target="fonts/font1.fntdata"/><Relationship Id="rId13"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Versión corta: arquitectura, alcance, demo y celular. Abrir con calma: “Les voy a mostrar una prueba de concepto, pero sobre todo cómo decidí qué construir y qué no”. El título resume la idea: para el usuario es un solo portal; por dentro son cuatro aplicaciones que se publican por separado. 30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de izquierda a derecha. El shell es dueño de lo transversal: sesión, menú, país y rutas. No sabe dónde viven los remotes: lo lee de un manifiesto al arrancar, y solo acepta orígenes permitidos. Pólizas y Siniestros son Angular y se cargan por Native Federation; el Cotizador es React y entra como Web Component. Abajo: Angular y la librería de contexto se comparten como una sola instancia; si hubiera dos copias, habría dos sesiones y dos países. 1.5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inventario exacto, antes de la demo, para que el comité sepa qué va a ver. Recorrerlo rápido; no leerlo completo. Cuidado con las palabras: son micro frontends, no microservicios; no hay backend. Si preguntan qué quedó fuera: backend y APIs (los datos viven en memoria), pipeline de CI/CD (se publica con scripts), CDN, CSP y hashes de integridad, tokens en servidor (BFF), telemetría y pruebas unitarias. Si preguntan por pruebas unitarias: la PoC prioriza la prueba de la composición, que es el riesgo propio de los micro frontends; en producción, la librería compartida tendría pruebas unitarias obligatorias. 45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Anunciar el guion antes de cambiar de ventana, para que el director sepa qué buscar. Orden sugerido: 1) Rayos X encendido desde el inicio; 2) iniciar sesión, elegir póliza, Reportar siniestro; 3) cambiar a Colombia y luego a España: Siniestros desaparece del menú; 4) Cotizador en España, mostrar el aviso del shell con €; 5) en terminal: publicar polizas 1.1.0, recargar, Rayos X muestra la nueva versión; revertir a 1.0.0; 6) detener el servidor de Siniestros y entrar: aviso y botón Reintentar. Si algo falla en vivo: usar el video de respaldo. 6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Invitar al director a escanear. Este QR entra con Auth0 (inicio de sesión real). Si prefiere no registrarse, puede entrar a la misma dirección agregando ?sesion=simulada al final. Mientras lo abre, comentar: es un solo sitio estático en Azure Storage; cada remote vive en su carpeta versionada. Cerrar aquí con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160000" cy="44698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01"/>
            <a:ext cx="10566400" cy="416569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160000" cy="44698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01"/>
            <a:ext cx="10566400" cy="416569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0A35E"/>
                </a:solidFill>
                <a:latin typeface="JetBrains Mono" pitchFamily="49" charset="0"/>
                <a:ea typeface="JetBrains Mono" pitchFamily="49" charset="-122"/>
                <a:cs typeface="JetBrains Mono" pitchFamily="49" charset="-120"/>
              </a:rPr>
              <a:t>PRUEBA DE CONCEPTO · ARQUITECTURA FRONT-END</a:t>
            </a:r>
            <a:endParaRPr lang="en-US" sz="1200" dirty="0"/>
          </a:p>
        </p:txBody>
      </p:sp>
      <p:sp>
        <p:nvSpPr>
          <p:cNvPr id="3" name="Text 1"/>
          <p:cNvSpPr/>
          <p:nvPr>
            <p:ph type="title"/>
          </p:nvPr>
        </p:nvSpPr>
        <p:spPr>
          <a:xfrm>
            <a:off x="812800" y="275342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5F6F2"/>
                </a:solidFill>
                <a:latin typeface="IBM Plex Sans" pitchFamily="34" charset="0"/>
                <a:ea typeface="IBM Plex Sans" pitchFamily="34" charset="-122"/>
                <a:cs typeface="IBM Plex Sans" pitchFamily="34" charset="-120"/>
              </a:rPr>
              <a:t>Un portal, cuatro aplicaciones</a:t>
            </a:r>
            <a:endParaRPr lang="en-US" sz="5600" dirty="0"/>
          </a:p>
        </p:txBody>
      </p:sp>
      <p:sp>
        <p:nvSpPr>
          <p:cNvPr id="4" name="Text 2"/>
          <p:cNvSpPr/>
          <p:nvPr/>
        </p:nvSpPr>
        <p:spPr>
          <a:xfrm>
            <a:off x="812800" y="370334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9C4D8"/>
                </a:solidFill>
                <a:latin typeface="IBM Plex Sans" pitchFamily="34" charset="0"/>
                <a:ea typeface="IBM Plex Sans" pitchFamily="34" charset="-122"/>
                <a:cs typeface="IBM Plex Sans" pitchFamily="34" charset="-120"/>
              </a:rPr>
              <a:t>Micro frontends con Angular 22, Native Federation, React, Auth0 y Azure</a:t>
            </a:r>
            <a:endParaRPr lang="en-US" sz="2000" dirty="0"/>
          </a:p>
        </p:txBody>
      </p:sp>
      <p:sp>
        <p:nvSpPr>
          <p:cNvPr id="5" name="Text 3"/>
          <p:cNvSpPr/>
          <p:nvPr/>
        </p:nvSpPr>
        <p:spPr>
          <a:xfrm>
            <a:off x="812800" y="5760740"/>
            <a:ext cx="345995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5F6F2"/>
                </a:solidFill>
                <a:latin typeface="IBM Plex Sans" pitchFamily="34" charset="0"/>
                <a:ea typeface="IBM Plex Sans" pitchFamily="34" charset="-122"/>
                <a:cs typeface="IBM Plex Sans" pitchFamily="34" charset="-120"/>
              </a:rPr>
              <a:t>Carlos Ignacio Andrade Torres</a:t>
            </a:r>
            <a:endParaRPr lang="en-US" sz="1600" dirty="0"/>
          </a:p>
        </p:txBody>
      </p:sp>
      <p:sp>
        <p:nvSpPr>
          <p:cNvPr id="6" name="Text 4"/>
          <p:cNvSpPr/>
          <p:nvPr/>
        </p:nvSpPr>
        <p:spPr>
          <a:xfrm>
            <a:off x="9733280" y="5831880"/>
            <a:ext cx="164592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4D8"/>
                </a:solidFill>
                <a:latin typeface="JetBrains Mono" pitchFamily="49" charset="0"/>
                <a:ea typeface="JetBrains Mono" pitchFamily="49" charset="-122"/>
                <a:cs typeface="JetBrains Mono" pitchFamily="49" charset="-120"/>
              </a:rPr>
              <a:t>Octubre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6096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01A"/>
                </a:solidFill>
                <a:latin typeface="JetBrains Mono" pitchFamily="49" charset="0"/>
                <a:ea typeface="JetBrains Mono" pitchFamily="49" charset="-122"/>
                <a:cs typeface="JetBrains Mono" pitchFamily="49" charset="-120"/>
              </a:rPr>
              <a:t>ARQUITECTURA</a:t>
            </a:r>
            <a:endParaRPr lang="en-US" sz="1200" dirty="0"/>
          </a:p>
        </p:txBody>
      </p:sp>
      <p:sp>
        <p:nvSpPr>
          <p:cNvPr id="3" name="Text 1"/>
          <p:cNvSpPr/>
          <p:nvPr>
            <p:ph type="title"/>
          </p:nvPr>
        </p:nvSpPr>
        <p:spPr>
          <a:xfrm>
            <a:off x="812800" y="889000"/>
            <a:ext cx="1046480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Cómo está construido</a:t>
            </a:r>
            <a:endParaRPr lang="en-US" sz="3200" dirty="0"/>
          </a:p>
        </p:txBody>
      </p:sp>
      <p:sp>
        <p:nvSpPr>
          <p:cNvPr id="4" name="Shape 2"/>
          <p:cNvSpPr/>
          <p:nvPr/>
        </p:nvSpPr>
        <p:spPr>
          <a:xfrm>
            <a:off x="819150" y="1720850"/>
            <a:ext cx="2273300" cy="1066800"/>
          </a:xfrm>
          <a:prstGeom prst="roundRect">
            <a:avLst>
              <a:gd name="adj" fmla="val 8929"/>
            </a:avLst>
          </a:prstGeom>
          <a:solidFill>
            <a:srgbClr val="FCFCFA"/>
          </a:solidFill>
          <a:ln w="12700">
            <a:solidFill>
              <a:srgbClr val="C9D3E6"/>
            </a:solidFill>
            <a:prstDash val="solid"/>
          </a:ln>
        </p:spPr>
      </p:sp>
      <p:sp>
        <p:nvSpPr>
          <p:cNvPr id="5" name="Text 3"/>
          <p:cNvSpPr/>
          <p:nvPr/>
        </p:nvSpPr>
        <p:spPr>
          <a:xfrm>
            <a:off x="1611709" y="1979910"/>
            <a:ext cx="688181"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Auth0</a:t>
            </a:r>
            <a:endParaRPr lang="en-US" sz="1600" dirty="0"/>
          </a:p>
        </p:txBody>
      </p:sp>
      <p:sp>
        <p:nvSpPr>
          <p:cNvPr id="6" name="Text 4"/>
          <p:cNvSpPr/>
          <p:nvPr/>
        </p:nvSpPr>
        <p:spPr>
          <a:xfrm>
            <a:off x="1323350" y="2315170"/>
            <a:ext cx="126480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OIDC con PKCE</a:t>
            </a:r>
            <a:endParaRPr lang="en-US" sz="1200" dirty="0"/>
          </a:p>
        </p:txBody>
      </p:sp>
      <p:sp>
        <p:nvSpPr>
          <p:cNvPr id="7" name="Shape 5"/>
          <p:cNvSpPr/>
          <p:nvPr/>
        </p:nvSpPr>
        <p:spPr>
          <a:xfrm>
            <a:off x="3098800" y="2241550"/>
            <a:ext cx="965200" cy="25400"/>
          </a:xfrm>
          <a:prstGeom prst="rect">
            <a:avLst/>
          </a:prstGeom>
          <a:solidFill>
            <a:srgbClr val="5B6577"/>
          </a:solidFill>
          <a:ln/>
        </p:spPr>
      </p:sp>
      <p:sp>
        <p:nvSpPr>
          <p:cNvPr id="8" name="Text 6"/>
          <p:cNvSpPr/>
          <p:nvPr/>
        </p:nvSpPr>
        <p:spPr>
          <a:xfrm>
            <a:off x="3073400" y="1936750"/>
            <a:ext cx="101600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sesión</a:t>
            </a:r>
            <a:endParaRPr lang="en-US" sz="1100" dirty="0"/>
          </a:p>
        </p:txBody>
      </p:sp>
      <p:sp>
        <p:nvSpPr>
          <p:cNvPr id="9" name="Shape 7"/>
          <p:cNvSpPr/>
          <p:nvPr/>
        </p:nvSpPr>
        <p:spPr>
          <a:xfrm>
            <a:off x="4064000" y="1714500"/>
            <a:ext cx="4064000" cy="1079500"/>
          </a:xfrm>
          <a:prstGeom prst="roundRect">
            <a:avLst>
              <a:gd name="adj" fmla="val 9412"/>
            </a:avLst>
          </a:prstGeom>
          <a:solidFill>
            <a:srgbClr val="1A4F8B"/>
          </a:solidFill>
          <a:ln/>
        </p:spPr>
      </p:sp>
      <p:sp>
        <p:nvSpPr>
          <p:cNvPr id="10" name="Text 8"/>
          <p:cNvSpPr/>
          <p:nvPr/>
        </p:nvSpPr>
        <p:spPr>
          <a:xfrm>
            <a:off x="5164098" y="1962150"/>
            <a:ext cx="1863804" cy="34538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F5F6F2"/>
                </a:solidFill>
                <a:latin typeface="IBM Plex Sans" pitchFamily="34" charset="0"/>
                <a:ea typeface="IBM Plex Sans" pitchFamily="34" charset="-122"/>
                <a:cs typeface="IBM Plex Sans" pitchFamily="34" charset="-120"/>
              </a:rPr>
              <a:t>Shell · Angular</a:t>
            </a:r>
            <a:endParaRPr lang="en-US" sz="1800" dirty="0"/>
          </a:p>
        </p:txBody>
      </p:sp>
      <p:sp>
        <p:nvSpPr>
          <p:cNvPr id="11" name="Text 9"/>
          <p:cNvSpPr/>
          <p:nvPr/>
        </p:nvSpPr>
        <p:spPr>
          <a:xfrm>
            <a:off x="4534733" y="2332930"/>
            <a:ext cx="31225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6EA"/>
                </a:solidFill>
                <a:latin typeface="IBM Plex Sans" pitchFamily="34" charset="0"/>
                <a:ea typeface="IBM Plex Sans" pitchFamily="34" charset="-122"/>
                <a:cs typeface="IBM Plex Sans" pitchFamily="34" charset="-120"/>
              </a:rPr>
              <a:t>Encabezado, menú, sesión, país, rutas</a:t>
            </a:r>
            <a:endParaRPr lang="en-US" sz="1200" dirty="0"/>
          </a:p>
        </p:txBody>
      </p:sp>
      <p:sp>
        <p:nvSpPr>
          <p:cNvPr id="12" name="Shape 10"/>
          <p:cNvSpPr/>
          <p:nvPr/>
        </p:nvSpPr>
        <p:spPr>
          <a:xfrm>
            <a:off x="8128000" y="2241550"/>
            <a:ext cx="965200" cy="25400"/>
          </a:xfrm>
          <a:prstGeom prst="rect">
            <a:avLst/>
          </a:prstGeom>
          <a:solidFill>
            <a:srgbClr val="5B6577"/>
          </a:solidFill>
          <a:ln/>
        </p:spPr>
      </p:sp>
      <p:sp>
        <p:nvSpPr>
          <p:cNvPr id="13" name="Text 11"/>
          <p:cNvSpPr/>
          <p:nvPr/>
        </p:nvSpPr>
        <p:spPr>
          <a:xfrm>
            <a:off x="8102600" y="1936750"/>
            <a:ext cx="101600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lee</a:t>
            </a:r>
            <a:endParaRPr lang="en-US" sz="1100" dirty="0"/>
          </a:p>
        </p:txBody>
      </p:sp>
      <p:sp>
        <p:nvSpPr>
          <p:cNvPr id="14" name="Shape 12"/>
          <p:cNvSpPr/>
          <p:nvPr/>
        </p:nvSpPr>
        <p:spPr>
          <a:xfrm>
            <a:off x="9099550" y="1720850"/>
            <a:ext cx="2273300" cy="1066800"/>
          </a:xfrm>
          <a:prstGeom prst="roundRect">
            <a:avLst>
              <a:gd name="adj" fmla="val 8929"/>
            </a:avLst>
          </a:prstGeom>
          <a:solidFill>
            <a:srgbClr val="FCFCFA"/>
          </a:solidFill>
          <a:ln w="12700">
            <a:solidFill>
              <a:srgbClr val="C9D3E6"/>
            </a:solidFill>
            <a:prstDash val="solid"/>
          </a:ln>
        </p:spPr>
      </p:sp>
      <p:sp>
        <p:nvSpPr>
          <p:cNvPr id="15" name="Text 13"/>
          <p:cNvSpPr/>
          <p:nvPr/>
        </p:nvSpPr>
        <p:spPr>
          <a:xfrm>
            <a:off x="9645531" y="1979910"/>
            <a:ext cx="1181338"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Manifiesto</a:t>
            </a:r>
            <a:endParaRPr lang="en-US" sz="1600" dirty="0"/>
          </a:p>
        </p:txBody>
      </p:sp>
      <p:sp>
        <p:nvSpPr>
          <p:cNvPr id="16" name="Text 14"/>
          <p:cNvSpPr/>
          <p:nvPr/>
        </p:nvSpPr>
        <p:spPr>
          <a:xfrm>
            <a:off x="9577784" y="2315170"/>
            <a:ext cx="131683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nombre → URL</a:t>
            </a:r>
            <a:endParaRPr lang="en-US" sz="1200" dirty="0"/>
          </a:p>
        </p:txBody>
      </p:sp>
      <p:sp>
        <p:nvSpPr>
          <p:cNvPr id="17" name="Shape 15"/>
          <p:cNvSpPr/>
          <p:nvPr/>
        </p:nvSpPr>
        <p:spPr>
          <a:xfrm>
            <a:off x="2336800" y="3111500"/>
            <a:ext cx="7518400" cy="25400"/>
          </a:xfrm>
          <a:prstGeom prst="rect">
            <a:avLst/>
          </a:prstGeom>
          <a:solidFill>
            <a:srgbClr val="5B6577"/>
          </a:solidFill>
          <a:ln/>
        </p:spPr>
      </p:sp>
      <p:sp>
        <p:nvSpPr>
          <p:cNvPr id="18" name="Shape 16"/>
          <p:cNvSpPr/>
          <p:nvPr/>
        </p:nvSpPr>
        <p:spPr>
          <a:xfrm>
            <a:off x="6083300" y="2794000"/>
            <a:ext cx="25400" cy="317500"/>
          </a:xfrm>
          <a:prstGeom prst="rect">
            <a:avLst/>
          </a:prstGeom>
          <a:solidFill>
            <a:srgbClr val="5B6577"/>
          </a:solidFill>
          <a:ln/>
        </p:spPr>
      </p:sp>
      <p:sp>
        <p:nvSpPr>
          <p:cNvPr id="19" name="Shape 17"/>
          <p:cNvSpPr/>
          <p:nvPr/>
        </p:nvSpPr>
        <p:spPr>
          <a:xfrm>
            <a:off x="2324100" y="3111500"/>
            <a:ext cx="25400" cy="317500"/>
          </a:xfrm>
          <a:prstGeom prst="rect">
            <a:avLst/>
          </a:prstGeom>
          <a:solidFill>
            <a:srgbClr val="5B6577"/>
          </a:solidFill>
          <a:ln/>
        </p:spPr>
      </p:sp>
      <p:sp>
        <p:nvSpPr>
          <p:cNvPr id="20" name="Shape 18"/>
          <p:cNvSpPr/>
          <p:nvPr/>
        </p:nvSpPr>
        <p:spPr>
          <a:xfrm>
            <a:off x="6083300" y="3111500"/>
            <a:ext cx="25400" cy="317500"/>
          </a:xfrm>
          <a:prstGeom prst="rect">
            <a:avLst/>
          </a:prstGeom>
          <a:solidFill>
            <a:srgbClr val="5B6577"/>
          </a:solidFill>
          <a:ln/>
        </p:spPr>
      </p:sp>
      <p:sp>
        <p:nvSpPr>
          <p:cNvPr id="21" name="Shape 19"/>
          <p:cNvSpPr/>
          <p:nvPr/>
        </p:nvSpPr>
        <p:spPr>
          <a:xfrm>
            <a:off x="9842500" y="3111500"/>
            <a:ext cx="25400" cy="317500"/>
          </a:xfrm>
          <a:prstGeom prst="rect">
            <a:avLst/>
          </a:prstGeom>
          <a:solidFill>
            <a:srgbClr val="5B6577"/>
          </a:solidFill>
          <a:ln/>
        </p:spPr>
      </p:sp>
      <p:sp>
        <p:nvSpPr>
          <p:cNvPr id="22" name="Text 20"/>
          <p:cNvSpPr/>
          <p:nvPr/>
        </p:nvSpPr>
        <p:spPr>
          <a:xfrm>
            <a:off x="2540000" y="2844800"/>
            <a:ext cx="340106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5568"/>
                </a:solidFill>
                <a:latin typeface="JetBrains Mono" pitchFamily="49" charset="0"/>
                <a:ea typeface="JetBrains Mono" pitchFamily="49" charset="-122"/>
                <a:cs typeface="JetBrains Mono" pitchFamily="49" charset="-120"/>
              </a:rPr>
              <a:t>Native Federation</a:t>
            </a:r>
            <a:endParaRPr lang="en-US" sz="1100" dirty="0"/>
          </a:p>
        </p:txBody>
      </p:sp>
      <p:sp>
        <p:nvSpPr>
          <p:cNvPr id="23" name="Text 21"/>
          <p:cNvSpPr/>
          <p:nvPr/>
        </p:nvSpPr>
        <p:spPr>
          <a:xfrm>
            <a:off x="7428230" y="2844800"/>
            <a:ext cx="2223770" cy="220960"/>
          </a:xfrm>
          <a:prstGeom prst="rect">
            <a:avLst/>
          </a:prstGeom>
          <a:noFill/>
          <a:ln/>
        </p:spPr>
        <p:txBody>
          <a:bodyPr wrap="square" lIns="0" tIns="0" rIns="0" bIns="0" rtlCol="0" anchor="t">
            <a:normAutofit/>
          </a:bodyPr>
          <a:lstStyle/>
          <a:p>
            <a:pPr algn="r" indent="0" marL="0">
              <a:lnSpc>
                <a:spcPts val="1540"/>
              </a:lnSpc>
              <a:buNone/>
            </a:pPr>
            <a:r>
              <a:rPr lang="en-US" sz="1100" dirty="0">
                <a:solidFill>
                  <a:srgbClr val="B4501A"/>
                </a:solidFill>
                <a:latin typeface="JetBrains Mono" pitchFamily="49" charset="0"/>
                <a:ea typeface="JetBrains Mono" pitchFamily="49" charset="-122"/>
                <a:cs typeface="JetBrains Mono" pitchFamily="49" charset="-120"/>
              </a:rPr>
              <a:t>Web Component</a:t>
            </a:r>
            <a:endParaRPr lang="en-US" sz="1100" dirty="0"/>
          </a:p>
        </p:txBody>
      </p:sp>
      <p:sp>
        <p:nvSpPr>
          <p:cNvPr id="24" name="Shape 22"/>
          <p:cNvSpPr/>
          <p:nvPr/>
        </p:nvSpPr>
        <p:spPr>
          <a:xfrm>
            <a:off x="822325" y="3438525"/>
            <a:ext cx="3028950" cy="1060450"/>
          </a:xfrm>
          <a:prstGeom prst="roundRect">
            <a:avLst>
              <a:gd name="adj" fmla="val 8683"/>
            </a:avLst>
          </a:prstGeom>
          <a:solidFill>
            <a:srgbClr val="FCFCFA"/>
          </a:solidFill>
          <a:ln w="19050">
            <a:solidFill>
              <a:srgbClr val="1A7F37"/>
            </a:solidFill>
            <a:prstDash val="solid"/>
          </a:ln>
        </p:spPr>
      </p:sp>
      <p:sp>
        <p:nvSpPr>
          <p:cNvPr id="25" name="Text 23"/>
          <p:cNvSpPr/>
          <p:nvPr/>
        </p:nvSpPr>
        <p:spPr>
          <a:xfrm>
            <a:off x="1389549" y="3694410"/>
            <a:ext cx="1894403"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Pólizas · Angular</a:t>
            </a:r>
            <a:endParaRPr lang="en-US" sz="1600" dirty="0"/>
          </a:p>
        </p:txBody>
      </p:sp>
      <p:sp>
        <p:nvSpPr>
          <p:cNvPr id="26" name="Text 24"/>
          <p:cNvSpPr/>
          <p:nvPr/>
        </p:nvSpPr>
        <p:spPr>
          <a:xfrm>
            <a:off x="1378595" y="4029670"/>
            <a:ext cx="191631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Consulta y póliza activa</a:t>
            </a:r>
            <a:endParaRPr lang="en-US" sz="1200" dirty="0"/>
          </a:p>
        </p:txBody>
      </p:sp>
      <p:sp>
        <p:nvSpPr>
          <p:cNvPr id="27" name="Shape 25"/>
          <p:cNvSpPr/>
          <p:nvPr/>
        </p:nvSpPr>
        <p:spPr>
          <a:xfrm>
            <a:off x="4581525" y="3438525"/>
            <a:ext cx="3028950" cy="1060450"/>
          </a:xfrm>
          <a:prstGeom prst="roundRect">
            <a:avLst>
              <a:gd name="adj" fmla="val 8683"/>
            </a:avLst>
          </a:prstGeom>
          <a:solidFill>
            <a:srgbClr val="FCFCFA"/>
          </a:solidFill>
          <a:ln w="19050">
            <a:solidFill>
              <a:srgbClr val="CF222E"/>
            </a:solidFill>
            <a:prstDash val="solid"/>
          </a:ln>
        </p:spPr>
      </p:sp>
      <p:sp>
        <p:nvSpPr>
          <p:cNvPr id="28" name="Text 26"/>
          <p:cNvSpPr/>
          <p:nvPr/>
        </p:nvSpPr>
        <p:spPr>
          <a:xfrm>
            <a:off x="4989086" y="3694410"/>
            <a:ext cx="2213729"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Siniestros · Angular</a:t>
            </a:r>
            <a:endParaRPr lang="en-US" sz="1600" dirty="0"/>
          </a:p>
        </p:txBody>
      </p:sp>
      <p:sp>
        <p:nvSpPr>
          <p:cNvPr id="29" name="Text 27"/>
          <p:cNvSpPr/>
          <p:nvPr/>
        </p:nvSpPr>
        <p:spPr>
          <a:xfrm>
            <a:off x="4811921" y="4029670"/>
            <a:ext cx="256805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Reporte con validación por país</a:t>
            </a:r>
            <a:endParaRPr lang="en-US" sz="1200" dirty="0"/>
          </a:p>
        </p:txBody>
      </p:sp>
      <p:sp>
        <p:nvSpPr>
          <p:cNvPr id="30" name="Shape 28"/>
          <p:cNvSpPr/>
          <p:nvPr/>
        </p:nvSpPr>
        <p:spPr>
          <a:xfrm>
            <a:off x="8340725" y="3438525"/>
            <a:ext cx="3028950" cy="1060450"/>
          </a:xfrm>
          <a:prstGeom prst="roundRect">
            <a:avLst>
              <a:gd name="adj" fmla="val 8683"/>
            </a:avLst>
          </a:prstGeom>
          <a:solidFill>
            <a:srgbClr val="FCFCFA"/>
          </a:solidFill>
          <a:ln w="19050">
            <a:solidFill>
              <a:srgbClr val="B4501A"/>
            </a:solidFill>
            <a:prstDash val="solid"/>
          </a:ln>
        </p:spPr>
      </p:sp>
      <p:sp>
        <p:nvSpPr>
          <p:cNvPr id="31" name="Text 29"/>
          <p:cNvSpPr/>
          <p:nvPr/>
        </p:nvSpPr>
        <p:spPr>
          <a:xfrm>
            <a:off x="8886994" y="3694410"/>
            <a:ext cx="1936313"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Cotizador · React</a:t>
            </a:r>
            <a:endParaRPr lang="en-US" sz="1600" dirty="0"/>
          </a:p>
        </p:txBody>
      </p:sp>
      <p:sp>
        <p:nvSpPr>
          <p:cNvPr id="32" name="Text 30"/>
          <p:cNvSpPr/>
          <p:nvPr/>
        </p:nvSpPr>
        <p:spPr>
          <a:xfrm>
            <a:off x="9166185" y="4029670"/>
            <a:ext cx="137802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Cálculo de prima</a:t>
            </a:r>
            <a:endParaRPr lang="en-US" sz="1200" dirty="0"/>
          </a:p>
        </p:txBody>
      </p:sp>
      <p:sp>
        <p:nvSpPr>
          <p:cNvPr id="33" name="Shape 31"/>
          <p:cNvSpPr/>
          <p:nvPr/>
        </p:nvSpPr>
        <p:spPr>
          <a:xfrm>
            <a:off x="812800" y="4953000"/>
            <a:ext cx="10566400" cy="825500"/>
          </a:xfrm>
          <a:prstGeom prst="roundRect">
            <a:avLst>
              <a:gd name="adj" fmla="val 12308"/>
            </a:avLst>
          </a:prstGeom>
          <a:solidFill>
            <a:srgbClr val="EAF0F7"/>
          </a:solidFill>
          <a:ln/>
        </p:spPr>
      </p:sp>
      <p:sp>
        <p:nvSpPr>
          <p:cNvPr id="34" name="Text 32"/>
          <p:cNvSpPr/>
          <p:nvPr/>
        </p:nvSpPr>
        <p:spPr>
          <a:xfrm>
            <a:off x="1117600" y="5241330"/>
            <a:ext cx="599253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Compartido como singleton</a:t>
            </a:r>
            <a:r>
              <a:rPr lang="en-US" sz="1400" dirty="0">
                <a:solidFill>
                  <a:srgbClr val="14213D"/>
                </a:solidFill>
                <a:latin typeface="IBM Plex Sans" pitchFamily="34" charset="0"/>
                <a:ea typeface="IBM Plex Sans" pitchFamily="34" charset="-122"/>
                <a:cs typeface="IBM Plex Sans" pitchFamily="34" charset="-120"/>
              </a:rPr>
              <a:t> · Angular, RxJS y @portal/context</a:t>
            </a:r>
            <a:endParaRPr lang="en-US" sz="1400" dirty="0"/>
          </a:p>
        </p:txBody>
      </p:sp>
      <p:sp>
        <p:nvSpPr>
          <p:cNvPr id="35" name="Text 33"/>
          <p:cNvSpPr/>
          <p:nvPr/>
        </p:nvSpPr>
        <p:spPr>
          <a:xfrm>
            <a:off x="9298821" y="5250160"/>
            <a:ext cx="1775579"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A4F8B"/>
                </a:solidFill>
                <a:latin typeface="IBM Plex Sans" pitchFamily="34" charset="0"/>
                <a:ea typeface="IBM Plex Sans" pitchFamily="34" charset="-122"/>
                <a:cs typeface="IBM Plex Sans" pitchFamily="34" charset="-120"/>
              </a:rPr>
              <a:t>se descarga una vez</a:t>
            </a:r>
            <a:endParaRPr lang="en-US" sz="1300" dirty="0"/>
          </a:p>
        </p:txBody>
      </p:sp>
      <p:sp>
        <p:nvSpPr>
          <p:cNvPr id="36" name="Text 3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PoC de micro frontends · Portal de asegurados</a:t>
            </a:r>
            <a:endParaRPr lang="en-US" sz="1200" dirty="0"/>
          </a:p>
        </p:txBody>
      </p:sp>
      <p:sp>
        <p:nvSpPr>
          <p:cNvPr id="37" name="Text 3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JetBrains Mono" pitchFamily="49" charset="0"/>
                <a:ea typeface="JetBrains Mono" pitchFamily="49" charset="-122"/>
                <a:cs typeface="JetBrains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01A"/>
                </a:solidFill>
                <a:latin typeface="JetBrains Mono" pitchFamily="49" charset="0"/>
                <a:ea typeface="JetBrains Mono" pitchFamily="49" charset="-122"/>
                <a:cs typeface="JetBrains Mono" pitchFamily="49" charset="-120"/>
              </a:rPr>
              <a:t>ALCANCE</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Qué abarca la PoC hoy</a:t>
            </a:r>
            <a:endParaRPr lang="en-US" sz="3200" dirty="0"/>
          </a:p>
        </p:txBody>
      </p:sp>
      <p:sp>
        <p:nvSpPr>
          <p:cNvPr id="4" name="Shape 2"/>
          <p:cNvSpPr/>
          <p:nvPr/>
        </p:nvSpPr>
        <p:spPr>
          <a:xfrm>
            <a:off x="819150" y="1835051"/>
            <a:ext cx="10553700" cy="3237508"/>
          </a:xfrm>
          <a:prstGeom prst="roundRect">
            <a:avLst>
              <a:gd name="adj" fmla="val 2942"/>
            </a:avLst>
          </a:prstGeom>
          <a:solidFill>
            <a:srgbClr val="FCFCFA"/>
          </a:solidFill>
          <a:ln w="12700">
            <a:solidFill>
              <a:srgbClr val="C9D3E6"/>
            </a:solidFill>
            <a:prstDash val="solid"/>
          </a:ln>
        </p:spPr>
      </p:sp>
      <p:sp>
        <p:nvSpPr>
          <p:cNvPr id="5" name="Text 3"/>
          <p:cNvSpPr/>
          <p:nvPr/>
        </p:nvSpPr>
        <p:spPr>
          <a:xfrm>
            <a:off x="1130300" y="2146201"/>
            <a:ext cx="3200451"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 4 aplicaciones: shell, Pólizas y Siniestros en Angular 22, Cotizador en React 19</a:t>
            </a:r>
            <a:endParaRPr lang="en-US" sz="1300" dirty="0"/>
          </a:p>
        </p:txBody>
      </p:sp>
      <p:sp>
        <p:nvSpPr>
          <p:cNvPr id="6" name="Text 4"/>
          <p:cNvSpPr/>
          <p:nvPr/>
        </p:nvSpPr>
        <p:spPr>
          <a:xfrm>
            <a:off x="4542334" y="2146201"/>
            <a:ext cx="3200451"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 Native Federation v4 con host dinámico y orígenes permitidos</a:t>
            </a:r>
            <a:endParaRPr lang="en-US" sz="1300" dirty="0"/>
          </a:p>
        </p:txBody>
      </p:sp>
      <p:sp>
        <p:nvSpPr>
          <p:cNvPr id="7" name="Text 5"/>
          <p:cNvSpPr/>
          <p:nvPr/>
        </p:nvSpPr>
        <p:spPr>
          <a:xfrm>
            <a:off x="7954367" y="2146201"/>
            <a:ext cx="3200553"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 Librería compartida como singleton: estado, contratos, sesión y formato</a:t>
            </a:r>
            <a:endParaRPr lang="en-US" sz="1300" dirty="0"/>
          </a:p>
        </p:txBody>
      </p:sp>
      <p:sp>
        <p:nvSpPr>
          <p:cNvPr id="8" name="Text 6"/>
          <p:cNvSpPr/>
          <p:nvPr/>
        </p:nvSpPr>
        <p:spPr>
          <a:xfrm>
            <a:off x="1130300" y="3017937"/>
            <a:ext cx="320045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 Inicio de sesión real con Auth0 (PKCE) y sesión simulada</a:t>
            </a:r>
            <a:endParaRPr lang="en-US" sz="1300" dirty="0"/>
          </a:p>
        </p:txBody>
      </p:sp>
      <p:sp>
        <p:nvSpPr>
          <p:cNvPr id="9" name="Text 7"/>
          <p:cNvSpPr/>
          <p:nvPr/>
        </p:nvSpPr>
        <p:spPr>
          <a:xfrm>
            <a:off x="4542334" y="3017937"/>
            <a:ext cx="320045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 Componente React integrado como Web Component</a:t>
            </a:r>
            <a:endParaRPr lang="en-US" sz="1300" dirty="0"/>
          </a:p>
        </p:txBody>
      </p:sp>
      <p:sp>
        <p:nvSpPr>
          <p:cNvPr id="10" name="Text 8"/>
          <p:cNvSpPr/>
          <p:nvPr/>
        </p:nvSpPr>
        <p:spPr>
          <a:xfrm>
            <a:off x="7954367" y="3017937"/>
            <a:ext cx="320055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 Tropicalización en 3 países: México, Colombia y España</a:t>
            </a:r>
            <a:endParaRPr lang="en-US" sz="1300" dirty="0"/>
          </a:p>
        </p:txBody>
      </p:sp>
      <p:sp>
        <p:nvSpPr>
          <p:cNvPr id="11" name="Text 9"/>
          <p:cNvSpPr/>
          <p:nvPr/>
        </p:nvSpPr>
        <p:spPr>
          <a:xfrm>
            <a:off x="1130300" y="3666827"/>
            <a:ext cx="320045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 Diseño para celular y escritorio</a:t>
            </a:r>
            <a:endParaRPr lang="en-US" sz="1300" dirty="0"/>
          </a:p>
        </p:txBody>
      </p:sp>
      <p:sp>
        <p:nvSpPr>
          <p:cNvPr id="12" name="Text 10"/>
          <p:cNvSpPr/>
          <p:nvPr/>
        </p:nvSpPr>
        <p:spPr>
          <a:xfrm>
            <a:off x="4542334" y="3666827"/>
            <a:ext cx="320045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 Un dominio caído no tumba el portal</a:t>
            </a:r>
            <a:endParaRPr lang="en-US" sz="1300" dirty="0"/>
          </a:p>
        </p:txBody>
      </p:sp>
      <p:sp>
        <p:nvSpPr>
          <p:cNvPr id="13" name="Text 11"/>
          <p:cNvSpPr/>
          <p:nvPr/>
        </p:nvSpPr>
        <p:spPr>
          <a:xfrm>
            <a:off x="7954367" y="3666827"/>
            <a:ext cx="320055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 Publicación por versiones y rollback sin tocar el shell</a:t>
            </a:r>
            <a:endParaRPr lang="en-US" sz="1300" dirty="0"/>
          </a:p>
        </p:txBody>
      </p:sp>
      <p:sp>
        <p:nvSpPr>
          <p:cNvPr id="14" name="Text 12"/>
          <p:cNvSpPr/>
          <p:nvPr/>
        </p:nvSpPr>
        <p:spPr>
          <a:xfrm>
            <a:off x="1130300" y="4315718"/>
            <a:ext cx="341203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 Desplegado en Azure, accesible por QR</a:t>
            </a:r>
            <a:endParaRPr lang="en-US" sz="1300" dirty="0"/>
          </a:p>
        </p:txBody>
      </p:sp>
      <p:sp>
        <p:nvSpPr>
          <p:cNvPr id="15" name="Text 13"/>
          <p:cNvSpPr/>
          <p:nvPr/>
        </p:nvSpPr>
        <p:spPr>
          <a:xfrm>
            <a:off x="4542334" y="4315718"/>
            <a:ext cx="320045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 10 pruebas E2E con Playwright, en escritorio y celular</a:t>
            </a:r>
            <a:endParaRPr lang="en-US" sz="1300" dirty="0"/>
          </a:p>
        </p:txBody>
      </p:sp>
      <p:sp>
        <p:nvSpPr>
          <p:cNvPr id="16" name="Text 14"/>
          <p:cNvSpPr/>
          <p:nvPr/>
        </p:nvSpPr>
        <p:spPr>
          <a:xfrm>
            <a:off x="7954367" y="4315718"/>
            <a:ext cx="320055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 Modo aislado por dominio, Rayos X, README y 10 ADRs</a:t>
            </a:r>
            <a:endParaRPr lang="en-US" sz="1300" dirty="0"/>
          </a:p>
        </p:txBody>
      </p:sp>
      <p:sp>
        <p:nvSpPr>
          <p:cNvPr id="17"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PoC de micro frontends · Portal de asegurados</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JetBrains Mono" pitchFamily="49" charset="0"/>
                <a:ea typeface="JetBrains Mono" pitchFamily="49" charset="-122"/>
                <a:cs typeface="JetBrains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4F8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8C08A"/>
                </a:solidFill>
                <a:latin typeface="JetBrains Mono" pitchFamily="49" charset="0"/>
                <a:ea typeface="JetBrains Mono" pitchFamily="49" charset="-122"/>
                <a:cs typeface="JetBrains Mono" pitchFamily="49" charset="-120"/>
              </a:rPr>
              <a:t>DEMO EN VIVO · 6 MINUTOS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6F2"/>
                </a:solidFill>
                <a:latin typeface="IBM Plex Sans" pitchFamily="34" charset="0"/>
                <a:ea typeface="IBM Plex Sans" pitchFamily="34" charset="-122"/>
                <a:cs typeface="IBM Plex Sans" pitchFamily="34" charset="-120"/>
              </a:rPr>
              <a:t>Lo que va a ver</a:t>
            </a:r>
            <a:endParaRPr lang="en-US" sz="3200" dirty="0"/>
          </a:p>
        </p:txBody>
      </p:sp>
      <p:sp>
        <p:nvSpPr>
          <p:cNvPr id="4" name="Shape 2"/>
          <p:cNvSpPr/>
          <p:nvPr/>
        </p:nvSpPr>
        <p:spPr>
          <a:xfrm>
            <a:off x="812800" y="1879501"/>
            <a:ext cx="3386634" cy="1594941"/>
          </a:xfrm>
          <a:prstGeom prst="roundRect">
            <a:avLst>
              <a:gd name="adj" fmla="val 6370"/>
            </a:avLst>
          </a:prstGeom>
          <a:solidFill>
            <a:srgbClr val="14213D"/>
          </a:solidFill>
          <a:ln/>
        </p:spPr>
      </p:sp>
      <p:sp>
        <p:nvSpPr>
          <p:cNvPr id="5" name="Text 3"/>
          <p:cNvSpPr/>
          <p:nvPr/>
        </p:nvSpPr>
        <p:spPr>
          <a:xfrm>
            <a:off x="1066800" y="2133501"/>
            <a:ext cx="2964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8C08A"/>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66800" y="2423021"/>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6F2"/>
                </a:solidFill>
                <a:latin typeface="IBM Plex Sans" pitchFamily="34" charset="0"/>
                <a:ea typeface="IBM Plex Sans" pitchFamily="34" charset="-122"/>
                <a:cs typeface="IBM Plex Sans" pitchFamily="34" charset="-120"/>
              </a:rPr>
              <a:t>Rayos X</a:t>
            </a:r>
            <a:endParaRPr lang="en-US" sz="1700" dirty="0"/>
          </a:p>
        </p:txBody>
      </p:sp>
      <p:sp>
        <p:nvSpPr>
          <p:cNvPr id="7" name="Text 5"/>
          <p:cNvSpPr/>
          <p:nvPr/>
        </p:nvSpPr>
        <p:spPr>
          <a:xfrm>
            <a:off x="1066800" y="2758281"/>
            <a:ext cx="29649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A"/>
                </a:solidFill>
                <a:latin typeface="IBM Plex Sans" pitchFamily="34" charset="0"/>
                <a:ea typeface="IBM Plex Sans" pitchFamily="34" charset="-122"/>
                <a:cs typeface="IBM Plex Sans" pitchFamily="34" charset="-120"/>
              </a:rPr>
              <a:t>Cada aplicación se marca con su nombre, versión, tecnología y origen.</a:t>
            </a:r>
            <a:endParaRPr lang="en-US" sz="1300" dirty="0"/>
          </a:p>
        </p:txBody>
      </p:sp>
      <p:sp>
        <p:nvSpPr>
          <p:cNvPr id="8" name="Shape 6"/>
          <p:cNvSpPr/>
          <p:nvPr/>
        </p:nvSpPr>
        <p:spPr>
          <a:xfrm>
            <a:off x="4402634" y="1879501"/>
            <a:ext cx="3386634" cy="1594941"/>
          </a:xfrm>
          <a:prstGeom prst="roundRect">
            <a:avLst>
              <a:gd name="adj" fmla="val 6370"/>
            </a:avLst>
          </a:prstGeom>
          <a:solidFill>
            <a:srgbClr val="14213D"/>
          </a:solidFill>
          <a:ln/>
        </p:spPr>
      </p:sp>
      <p:sp>
        <p:nvSpPr>
          <p:cNvPr id="9" name="Text 7"/>
          <p:cNvSpPr/>
          <p:nvPr/>
        </p:nvSpPr>
        <p:spPr>
          <a:xfrm>
            <a:off x="4656634" y="2133501"/>
            <a:ext cx="2964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8C08A"/>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4656634" y="2423021"/>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6F2"/>
                </a:solidFill>
                <a:latin typeface="IBM Plex Sans" pitchFamily="34" charset="0"/>
                <a:ea typeface="IBM Plex Sans" pitchFamily="34" charset="-122"/>
                <a:cs typeface="IBM Plex Sans" pitchFamily="34" charset="-120"/>
              </a:rPr>
              <a:t>Sesión y estado</a:t>
            </a:r>
            <a:endParaRPr lang="en-US" sz="1700" dirty="0"/>
          </a:p>
        </p:txBody>
      </p:sp>
      <p:sp>
        <p:nvSpPr>
          <p:cNvPr id="11" name="Text 9"/>
          <p:cNvSpPr/>
          <p:nvPr/>
        </p:nvSpPr>
        <p:spPr>
          <a:xfrm>
            <a:off x="4656634" y="2758281"/>
            <a:ext cx="29649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A"/>
                </a:solidFill>
                <a:latin typeface="IBM Plex Sans" pitchFamily="34" charset="0"/>
                <a:ea typeface="IBM Plex Sans" pitchFamily="34" charset="-122"/>
                <a:cs typeface="IBM Plex Sans" pitchFamily="34" charset="-120"/>
              </a:rPr>
              <a:t>Un login y una póliza activa que viaja de Pólizas a Siniestros.</a:t>
            </a:r>
            <a:endParaRPr lang="en-US" sz="1300" dirty="0"/>
          </a:p>
        </p:txBody>
      </p:sp>
      <p:sp>
        <p:nvSpPr>
          <p:cNvPr id="12" name="Shape 10"/>
          <p:cNvSpPr/>
          <p:nvPr/>
        </p:nvSpPr>
        <p:spPr>
          <a:xfrm>
            <a:off x="7992467" y="1879501"/>
            <a:ext cx="3386634" cy="1594941"/>
          </a:xfrm>
          <a:prstGeom prst="roundRect">
            <a:avLst>
              <a:gd name="adj" fmla="val 6370"/>
            </a:avLst>
          </a:prstGeom>
          <a:solidFill>
            <a:srgbClr val="14213D"/>
          </a:solidFill>
          <a:ln/>
        </p:spPr>
      </p:sp>
      <p:sp>
        <p:nvSpPr>
          <p:cNvPr id="13" name="Text 11"/>
          <p:cNvSpPr/>
          <p:nvPr/>
        </p:nvSpPr>
        <p:spPr>
          <a:xfrm>
            <a:off x="8246467" y="2133501"/>
            <a:ext cx="2964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8C08A"/>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8246467" y="2423021"/>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6F2"/>
                </a:solidFill>
                <a:latin typeface="IBM Plex Sans" pitchFamily="34" charset="0"/>
                <a:ea typeface="IBM Plex Sans" pitchFamily="34" charset="-122"/>
                <a:cs typeface="IBM Plex Sans" pitchFamily="34" charset="-120"/>
              </a:rPr>
              <a:t>País</a:t>
            </a:r>
            <a:endParaRPr lang="en-US" sz="1700" dirty="0"/>
          </a:p>
        </p:txBody>
      </p:sp>
      <p:sp>
        <p:nvSpPr>
          <p:cNvPr id="15" name="Text 13"/>
          <p:cNvSpPr/>
          <p:nvPr/>
        </p:nvSpPr>
        <p:spPr>
          <a:xfrm>
            <a:off x="8246467" y="2758281"/>
            <a:ext cx="29649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A"/>
                </a:solidFill>
                <a:latin typeface="IBM Plex Sans" pitchFamily="34" charset="0"/>
                <a:ea typeface="IBM Plex Sans" pitchFamily="34" charset="-122"/>
                <a:cs typeface="IBM Plex Sans" pitchFamily="34" charset="-120"/>
              </a:rPr>
              <a:t>Cambia catálogo, formato, validaciones y menú en todo el portal.</a:t>
            </a:r>
            <a:endParaRPr lang="en-US" sz="1300" dirty="0"/>
          </a:p>
        </p:txBody>
      </p:sp>
      <p:sp>
        <p:nvSpPr>
          <p:cNvPr id="16" name="Shape 14"/>
          <p:cNvSpPr/>
          <p:nvPr/>
        </p:nvSpPr>
        <p:spPr>
          <a:xfrm>
            <a:off x="812800" y="3677642"/>
            <a:ext cx="3386634" cy="1594941"/>
          </a:xfrm>
          <a:prstGeom prst="roundRect">
            <a:avLst>
              <a:gd name="adj" fmla="val 6370"/>
            </a:avLst>
          </a:prstGeom>
          <a:solidFill>
            <a:srgbClr val="14213D"/>
          </a:solidFill>
          <a:ln/>
        </p:spPr>
      </p:sp>
      <p:sp>
        <p:nvSpPr>
          <p:cNvPr id="17" name="Text 15"/>
          <p:cNvSpPr/>
          <p:nvPr/>
        </p:nvSpPr>
        <p:spPr>
          <a:xfrm>
            <a:off x="1066800" y="3931642"/>
            <a:ext cx="2964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8C08A"/>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1066800" y="4221163"/>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6F2"/>
                </a:solidFill>
                <a:latin typeface="IBM Plex Sans" pitchFamily="34" charset="0"/>
                <a:ea typeface="IBM Plex Sans" pitchFamily="34" charset="-122"/>
                <a:cs typeface="IBM Plex Sans" pitchFamily="34" charset="-120"/>
              </a:rPr>
              <a:t>React ↔ Angular</a:t>
            </a:r>
            <a:endParaRPr lang="en-US" sz="1700" dirty="0"/>
          </a:p>
        </p:txBody>
      </p:sp>
      <p:sp>
        <p:nvSpPr>
          <p:cNvPr id="19" name="Text 17"/>
          <p:cNvSpPr/>
          <p:nvPr/>
        </p:nvSpPr>
        <p:spPr>
          <a:xfrm>
            <a:off x="1066800" y="4556423"/>
            <a:ext cx="29649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A"/>
                </a:solidFill>
                <a:latin typeface="IBM Plex Sans" pitchFamily="34" charset="0"/>
                <a:ea typeface="IBM Plex Sans" pitchFamily="34" charset="-122"/>
                <a:cs typeface="IBM Plex Sans" pitchFamily="34" charset="-120"/>
              </a:rPr>
              <a:t>El cotizador recibe contexto y responde con un evento.</a:t>
            </a:r>
            <a:endParaRPr lang="en-US" sz="1300" dirty="0"/>
          </a:p>
        </p:txBody>
      </p:sp>
      <p:sp>
        <p:nvSpPr>
          <p:cNvPr id="20" name="Shape 18"/>
          <p:cNvSpPr/>
          <p:nvPr/>
        </p:nvSpPr>
        <p:spPr>
          <a:xfrm>
            <a:off x="4402634" y="3677642"/>
            <a:ext cx="3386634" cy="1594941"/>
          </a:xfrm>
          <a:prstGeom prst="roundRect">
            <a:avLst>
              <a:gd name="adj" fmla="val 6370"/>
            </a:avLst>
          </a:prstGeom>
          <a:solidFill>
            <a:srgbClr val="14213D"/>
          </a:solidFill>
          <a:ln/>
        </p:spPr>
      </p:sp>
      <p:sp>
        <p:nvSpPr>
          <p:cNvPr id="21" name="Text 19"/>
          <p:cNvSpPr/>
          <p:nvPr/>
        </p:nvSpPr>
        <p:spPr>
          <a:xfrm>
            <a:off x="4656634" y="3931642"/>
            <a:ext cx="2964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8C08A"/>
                </a:solidFill>
                <a:latin typeface="JetBrains Mono" pitchFamily="49" charset="0"/>
                <a:ea typeface="JetBrains Mono" pitchFamily="49" charset="-122"/>
                <a:cs typeface="JetBrains Mono" pitchFamily="49" charset="-120"/>
              </a:rPr>
              <a:t>05</a:t>
            </a:r>
            <a:endParaRPr lang="en-US" sz="1200" dirty="0"/>
          </a:p>
        </p:txBody>
      </p:sp>
      <p:sp>
        <p:nvSpPr>
          <p:cNvPr id="22" name="Text 20"/>
          <p:cNvSpPr/>
          <p:nvPr/>
        </p:nvSpPr>
        <p:spPr>
          <a:xfrm>
            <a:off x="4656634" y="4221163"/>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6F2"/>
                </a:solidFill>
                <a:latin typeface="IBM Plex Sans" pitchFamily="34" charset="0"/>
                <a:ea typeface="IBM Plex Sans" pitchFamily="34" charset="-122"/>
                <a:cs typeface="IBM Plex Sans" pitchFamily="34" charset="-120"/>
              </a:rPr>
              <a:t>Publicar y revertir</a:t>
            </a:r>
            <a:endParaRPr lang="en-US" sz="1700" dirty="0"/>
          </a:p>
        </p:txBody>
      </p:sp>
      <p:sp>
        <p:nvSpPr>
          <p:cNvPr id="23" name="Text 21"/>
          <p:cNvSpPr/>
          <p:nvPr/>
        </p:nvSpPr>
        <p:spPr>
          <a:xfrm>
            <a:off x="4656634" y="4556423"/>
            <a:ext cx="29649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A"/>
                </a:solidFill>
                <a:latin typeface="IBM Plex Sans" pitchFamily="34" charset="0"/>
                <a:ea typeface="IBM Plex Sans" pitchFamily="34" charset="-122"/>
                <a:cs typeface="IBM Plex Sans" pitchFamily="34" charset="-120"/>
              </a:rPr>
              <a:t>Nueva versión de un dominio sin recompilar el shell, y vuelta atrás.</a:t>
            </a:r>
            <a:endParaRPr lang="en-US" sz="1300" dirty="0"/>
          </a:p>
        </p:txBody>
      </p:sp>
      <p:sp>
        <p:nvSpPr>
          <p:cNvPr id="24" name="Shape 22"/>
          <p:cNvSpPr/>
          <p:nvPr/>
        </p:nvSpPr>
        <p:spPr>
          <a:xfrm>
            <a:off x="7992467" y="3677642"/>
            <a:ext cx="3386634" cy="1594941"/>
          </a:xfrm>
          <a:prstGeom prst="roundRect">
            <a:avLst>
              <a:gd name="adj" fmla="val 6370"/>
            </a:avLst>
          </a:prstGeom>
          <a:solidFill>
            <a:srgbClr val="14213D"/>
          </a:solidFill>
          <a:ln/>
        </p:spPr>
      </p:sp>
      <p:sp>
        <p:nvSpPr>
          <p:cNvPr id="25" name="Text 23"/>
          <p:cNvSpPr/>
          <p:nvPr/>
        </p:nvSpPr>
        <p:spPr>
          <a:xfrm>
            <a:off x="8246467" y="3931642"/>
            <a:ext cx="2964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8C08A"/>
                </a:solidFill>
                <a:latin typeface="JetBrains Mono" pitchFamily="49" charset="0"/>
                <a:ea typeface="JetBrains Mono" pitchFamily="49" charset="-122"/>
                <a:cs typeface="JetBrains Mono" pitchFamily="49" charset="-120"/>
              </a:rPr>
              <a:t>06</a:t>
            </a:r>
            <a:endParaRPr lang="en-US" sz="1200" dirty="0"/>
          </a:p>
        </p:txBody>
      </p:sp>
      <p:sp>
        <p:nvSpPr>
          <p:cNvPr id="26" name="Text 24"/>
          <p:cNvSpPr/>
          <p:nvPr/>
        </p:nvSpPr>
        <p:spPr>
          <a:xfrm>
            <a:off x="8246467" y="4221163"/>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6F2"/>
                </a:solidFill>
                <a:latin typeface="IBM Plex Sans" pitchFamily="34" charset="0"/>
                <a:ea typeface="IBM Plex Sans" pitchFamily="34" charset="-122"/>
                <a:cs typeface="IBM Plex Sans" pitchFamily="34" charset="-120"/>
              </a:rPr>
              <a:t>Apagar un dominio</a:t>
            </a:r>
            <a:endParaRPr lang="en-US" sz="1700" dirty="0"/>
          </a:p>
        </p:txBody>
      </p:sp>
      <p:sp>
        <p:nvSpPr>
          <p:cNvPr id="27" name="Text 25"/>
          <p:cNvSpPr/>
          <p:nvPr/>
        </p:nvSpPr>
        <p:spPr>
          <a:xfrm>
            <a:off x="8246467" y="4556423"/>
            <a:ext cx="296499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EA"/>
                </a:solidFill>
                <a:latin typeface="IBM Plex Sans" pitchFamily="34" charset="0"/>
                <a:ea typeface="IBM Plex Sans" pitchFamily="34" charset="-122"/>
                <a:cs typeface="IBM Plex Sans" pitchFamily="34" charset="-120"/>
              </a:rPr>
              <a:t>Si Siniestros cae, el resto del portal sigue funcionando.</a:t>
            </a:r>
            <a:endParaRPr lang="en-US" sz="1300" dirty="0"/>
          </a:p>
        </p:txBody>
      </p:sp>
      <p:sp>
        <p:nvSpPr>
          <p:cNvPr id="28" name="Text 2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EA"/>
                </a:solidFill>
                <a:latin typeface="IBM Plex Sans" pitchFamily="34" charset="0"/>
                <a:ea typeface="IBM Plex Sans" pitchFamily="34" charset="-122"/>
                <a:cs typeface="IBM Plex Sans" pitchFamily="34" charset="-120"/>
              </a:rPr>
              <a:t>PoC de micro frontends · Portal de asegurados</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6EA"/>
                </a:solidFill>
                <a:latin typeface="JetBrains Mono" pitchFamily="49" charset="0"/>
                <a:ea typeface="JetBrains Mono" pitchFamily="49" charset="-122"/>
                <a:cs typeface="JetBrains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2084189"/>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01A"/>
                </a:solidFill>
                <a:latin typeface="JetBrains Mono" pitchFamily="49" charset="0"/>
                <a:ea typeface="JetBrains Mono" pitchFamily="49" charset="-122"/>
                <a:cs typeface="JetBrains Mono" pitchFamily="49" charset="-120"/>
              </a:rPr>
              <a:t>PRUÉBELO USTED</a:t>
            </a:r>
            <a:endParaRPr lang="en-US" sz="1200" dirty="0"/>
          </a:p>
        </p:txBody>
      </p:sp>
      <p:sp>
        <p:nvSpPr>
          <p:cNvPr id="3" name="Text 1"/>
          <p:cNvSpPr/>
          <p:nvPr>
            <p:ph type="title"/>
          </p:nvPr>
        </p:nvSpPr>
        <p:spPr>
          <a:xfrm>
            <a:off x="812800" y="2500709"/>
            <a:ext cx="6069584"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Ábralo en su celular</a:t>
            </a:r>
            <a:endParaRPr lang="en-US" sz="3200" dirty="0"/>
          </a:p>
        </p:txBody>
      </p:sp>
      <p:sp>
        <p:nvSpPr>
          <p:cNvPr id="4" name="Text 2"/>
          <p:cNvSpPr/>
          <p:nvPr/>
        </p:nvSpPr>
        <p:spPr>
          <a:xfrm>
            <a:off x="812800" y="3150890"/>
            <a:ext cx="606958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Es el mismo portal de la demo, publicado en Azure. El diseño se adapta a la pantalla sin una versión aparte.</a:t>
            </a:r>
            <a:endParaRPr lang="en-US" sz="1600" dirty="0"/>
          </a:p>
        </p:txBody>
      </p:sp>
      <p:sp>
        <p:nvSpPr>
          <p:cNvPr id="5" name="Text 3"/>
          <p:cNvSpPr/>
          <p:nvPr/>
        </p:nvSpPr>
        <p:spPr>
          <a:xfrm>
            <a:off x="812800" y="3923010"/>
            <a:ext cx="606958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Pruebe el menú ☰, cambie de país y reporte un siniestro desde el teléfono.</a:t>
            </a:r>
            <a:endParaRPr lang="en-US" sz="1300" dirty="0"/>
          </a:p>
        </p:txBody>
      </p:sp>
      <p:sp>
        <p:nvSpPr>
          <p:cNvPr id="6" name="Text 4"/>
          <p:cNvSpPr/>
          <p:nvPr/>
        </p:nvSpPr>
        <p:spPr>
          <a:xfrm>
            <a:off x="812800" y="4357291"/>
            <a:ext cx="60695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4F8B"/>
                </a:solidFill>
                <a:latin typeface="JetBrains Mono" pitchFamily="49" charset="0"/>
                <a:ea typeface="JetBrains Mono" pitchFamily="49" charset="-122"/>
                <a:cs typeface="JetBrains Mono" pitchFamily="49" charset="-120"/>
              </a:rPr>
              <a:t>caportalmfepoc.z19.web.core.windows.net</a:t>
            </a:r>
            <a:endParaRPr lang="en-US" sz="1200" dirty="0"/>
          </a:p>
        </p:txBody>
      </p:sp>
      <p:sp>
        <p:nvSpPr>
          <p:cNvPr id="7" name="Shape 5"/>
          <p:cNvSpPr/>
          <p:nvPr/>
        </p:nvSpPr>
        <p:spPr>
          <a:xfrm>
            <a:off x="7321550" y="1301750"/>
            <a:ext cx="4051300" cy="4051300"/>
          </a:xfrm>
          <a:prstGeom prst="roundRect">
            <a:avLst>
              <a:gd name="adj" fmla="val 3605"/>
            </a:avLst>
          </a:prstGeom>
          <a:solidFill>
            <a:srgbClr val="FFFFFF"/>
          </a:solidFill>
          <a:ln w="12700">
            <a:solidFill>
              <a:srgbClr val="C9D3E6"/>
            </a:solidFill>
            <a:prstDash val="solid"/>
          </a:ln>
        </p:spPr>
      </p:sp>
      <p:pic>
        <p:nvPicPr>
          <p:cNvPr id="8" name="Image 0" descr="Código QR del portal publicado en Azure">    </p:cNvPr>
          <p:cNvPicPr>
            <a:picLocks noChangeAspect="1"/>
          </p:cNvPicPr>
          <p:nvPr/>
        </p:nvPicPr>
        <p:blipFill>
          <a:blip r:embed="rId1"/>
          <a:srcRect l="0" r="0" t="0" b="0"/>
          <a:stretch/>
        </p:blipFill>
        <p:spPr>
          <a:xfrm>
            <a:off x="7581900" y="1050826"/>
            <a:ext cx="3530600" cy="4553148"/>
          </a:xfrm>
          <a:prstGeom prst="rect">
            <a:avLst/>
          </a:prstGeom>
        </p:spPr>
      </p:pic>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IBM Plex Sans" pitchFamily="34" charset="0"/>
                <a:ea typeface="IBM Plex Sans" pitchFamily="34" charset="-122"/>
                <a:cs typeface="IBM Plex Sans" pitchFamily="34" charset="-120"/>
              </a:rPr>
              <a:t>PoC de micro frontends · Portal de asegurados</a:t>
            </a:r>
            <a:endParaRPr lang="en-US" sz="1200" dirty="0"/>
          </a:p>
        </p:txBody>
      </p:sp>
      <p:sp>
        <p:nvSpPr>
          <p:cNvPr id="10"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JetBrains Mono" pitchFamily="49" charset="0"/>
                <a:ea typeface="JetBrains Mono" pitchFamily="49" charset="-122"/>
                <a:cs typeface="JetBrains Mono" pitchFamily="49" charset="-120"/>
              </a:rPr>
              <a:t>05</a:t>
            </a:r>
            <a:endParaRPr lang="en-US" sz="1200" dirty="0"/>
          </a:p>
        </p:txBody>
      </p:sp>
    </p:spTree>
  </p:cSld>
  <p:clrMapOvr>
    <a:masterClrMapping/>
  </p:clrMapOvr>
</p:sld>
</file>

<file path=ppt/theme/theme1.xml><?xml version="1.0" encoding="utf-8"?>
<a:theme xmlns:a="http://schemas.openxmlformats.org/drawingml/2006/main" name="PoC de micro frontends · Versión corta">
  <a:themeElements>
    <a:clrScheme name="PoC de micro frontends · Versión corta">
      <a:dk1>
        <a:srgbClr val="14213D"/>
      </a:dk1>
      <a:lt1>
        <a:srgbClr val="F5F6F2"/>
      </a:lt1>
      <a:dk2>
        <a:srgbClr val="4C566A"/>
      </a:dk2>
      <a:lt2>
        <a:srgbClr val="DFE1E0"/>
      </a:lt2>
      <a:accent1>
        <a:srgbClr val="F8C08A"/>
      </a:accent1>
      <a:accent2>
        <a:srgbClr val="1A4F8B"/>
      </a:accent2>
      <a:accent3>
        <a:srgbClr val="B4501A"/>
      </a:accent3>
      <a:accent4>
        <a:srgbClr val="F0A35E"/>
      </a:accent4>
      <a:accent5>
        <a:srgbClr val="5B6577"/>
      </a:accent5>
      <a:accent6>
        <a:srgbClr val="4A5568"/>
      </a:accent6>
      <a:hlink>
        <a:srgbClr val="0563C1"/>
      </a:hlink>
      <a:folHlink>
        <a:srgbClr val="954F72"/>
      </a:folHlink>
    </a:clrScheme>
    <a:fontScheme name="PoC de micro frontends · Versión corta">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PoC de micro frontends · Versión corta</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2026-10-27T20:02:10Z</dcterms:created>
  <dcterms:modified xsi:type="dcterms:W3CDTF">2026-10-27T20:02:10Z</dcterms:modified>
</cp:coreProperties>
</file>